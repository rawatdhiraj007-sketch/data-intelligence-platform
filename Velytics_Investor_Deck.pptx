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($)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Month 3</c:v>
                  </c:pt>
                  <c:pt idx="1">
                    <c:v>Month 6</c:v>
                  </c:pt>
                  <c:pt idx="2">
                    <c:v>Month 9</c:v>
                  </c:pt>
                  <c:pt idx="3">
                    <c:v>Month 12</c:v>
                  </c:pt>
                  <c:pt idx="4">
                    <c:v>Month 18</c:v>
                  </c:pt>
                  <c:pt idx="5">
                    <c:v>Month 24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3480</c:v>
                </c:pt>
                <c:pt idx="1">
                  <c:v>9480</c:v>
                </c:pt>
                <c:pt idx="2">
                  <c:v>18960</c:v>
                </c:pt>
                <c:pt idx="3">
                  <c:v>31600</c:v>
                </c:pt>
                <c:pt idx="4">
                  <c:v>63200</c:v>
                </c:pt>
                <c:pt idx="5">
                  <c:v>83800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f1f1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11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868680"/>
            <a:ext cx="237744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818CF8"/>
                </a:solidFill>
              </a:rPr>
              <a:t>INVESTOR PRESENTATION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8912" y="1325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Vely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2011680" y="13258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tics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scientist.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94436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hiring required.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Upload any business data. Get instant analyst-grade insights, forecasts, alerts and reports in under 60 seconds.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7365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Dhiraj Rawat  rawatdhiraj007@gmail.com  velytics.io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366F1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drown in data. Insights stay locked behind expensive expertise.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2743200" cy="2834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93392"/>
            <a:ext cx="475488" cy="475488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93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$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5786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</a:rPr>
              <a:t>Hiring an analyst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035808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$5,000-$15,000/month. Out of reach for 99% of businesses worldwide.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828800"/>
            <a:ext cx="2743200" cy="2834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993392"/>
            <a:ext cx="475488" cy="475488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993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~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25786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</a:rPr>
              <a:t>DIY spreadsheets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3035808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Days of manual work per report. No forecasting. No alerts. Error-prone.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743200" cy="2834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993392"/>
            <a:ext cx="475488" cy="475488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993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5786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</a:rPr>
              <a:t>Enterprise BI tools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3035808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Tableau, Power BI - complex, expensive, require trained staff. Not SMB-ready.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400 million+ SMBs worldwide. Less than 1% have access to affordable data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18CF8"/>
                </a:solidFill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Velytics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CA3AF"/>
                </a:solidFill>
              </a:rPr>
              <a:t>The analytics platform built for the other 99%.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901952"/>
            <a:ext cx="2697480" cy="1353312"/>
          </a:xfrm>
          <a:prstGeom prst="rect">
            <a:avLst/>
          </a:prstGeom>
          <a:solidFill>
            <a:srgbClr val="111111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901952"/>
            <a:ext cx="54864" cy="13533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04825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Auto Data Cleaning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423160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Detects and fixes missing values, duplicates, and inconsistencies before analysis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1901952"/>
            <a:ext cx="2697480" cy="1353312"/>
          </a:xfrm>
          <a:prstGeom prst="rect">
            <a:avLst/>
          </a:prstGeom>
          <a:solidFill>
            <a:srgbClr val="111111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18688" y="1901952"/>
            <a:ext cx="54864" cy="13533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9856" y="204825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Instant Profiling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19856" y="2423160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Full statistical overview of any dataset automatically in seconds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71616" y="1901952"/>
            <a:ext cx="2697480" cy="1353312"/>
          </a:xfrm>
          <a:prstGeom prst="rect">
            <a:avLst/>
          </a:prstGeom>
          <a:solidFill>
            <a:srgbClr val="111111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71616" y="1901952"/>
            <a:ext cx="54864" cy="13533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204825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Revenue Forecasting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72784" y="2423160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ML model projects next 3-6 months with confidence intervals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2697480" cy="1353312"/>
          </a:xfrm>
          <a:prstGeom prst="rect">
            <a:avLst/>
          </a:prstGeom>
          <a:solidFill>
            <a:srgbClr val="111111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383280"/>
            <a:ext cx="54864" cy="13533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52958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Anomaly Detection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390448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Price inconsistencies, unusual patterns, outliers - all flagged automatically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18688" y="3383280"/>
            <a:ext cx="2697480" cy="1353312"/>
          </a:xfrm>
          <a:prstGeom prst="rect">
            <a:avLst/>
          </a:prstGeom>
          <a:solidFill>
            <a:srgbClr val="111111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18688" y="3383280"/>
            <a:ext cx="54864" cy="13533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9856" y="352958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Alerts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19856" y="390448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Declining revenue, missed targets, payment risks - instant flags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71616" y="3383280"/>
            <a:ext cx="2697480" cy="1353312"/>
          </a:xfrm>
          <a:prstGeom prst="rect">
            <a:avLst/>
          </a:prstGeom>
          <a:solidFill>
            <a:srgbClr val="111111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71616" y="3383280"/>
            <a:ext cx="54864" cy="13533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352958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PDF Report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72784" y="390448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One-click branded report ready for management or investors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366F1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steps. Zero technical knowledge.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25880" y="1463040"/>
            <a:ext cx="777240" cy="7772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463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182112" y="1801368"/>
            <a:ext cx="109728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3774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5420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999232"/>
            <a:ext cx="23774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Drag and drop any Excel or CSV file. Sales, inventory, HR, finance - Velytics auto-detects everything.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78808" y="1463040"/>
            <a:ext cx="777240" cy="7772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78808" y="1463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035040" y="1801368"/>
            <a:ext cx="109728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18688" y="23774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01568" y="25420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01568" y="2999232"/>
            <a:ext cx="23774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Our engine cleans the data, detects columns, runs forecasting models, and flags anomalies in under 60 seconds.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31736" y="1463040"/>
            <a:ext cx="777240" cy="7772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31736" y="1463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071616" y="237744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54496" y="25420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Insights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54496" y="2999232"/>
            <a:ext cx="23774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Charts, forecasts, smart alerts, and a full PDF report. Raw file deleted immediately. Zero data risk.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Privacy: Raw data processed and permanently deleted after each analysis. Never stored. Never shared.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18CF8"/>
                </a:solidFill>
              </a:rPr>
              <a:t>MARKET OPPORTUNITY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$26B market. Mostly untouched.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1965960" cy="2286000"/>
          </a:xfrm>
          <a:prstGeom prst="rect">
            <a:avLst/>
          </a:prstGeom>
          <a:solidFill>
            <a:srgbClr val="11111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71907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400M+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25603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SMBs Worldwide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96265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Primary target market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508760"/>
            <a:ext cx="1965960" cy="2286000"/>
          </a:xfrm>
          <a:prstGeom prst="rect">
            <a:avLst/>
          </a:prstGeom>
          <a:solidFill>
            <a:srgbClr val="11111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71907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$26B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514600" y="25603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SMB Analytics Market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14600" y="296265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Global 2026 estimate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1965960" cy="2286000"/>
          </a:xfrm>
          <a:prstGeom prst="rect">
            <a:avLst/>
          </a:prstGeom>
          <a:solidFill>
            <a:srgbClr val="11111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71907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663440" y="25603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Annual Growth Rate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296265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CAGR through 2030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1508760"/>
            <a:ext cx="1965960" cy="2286000"/>
          </a:xfrm>
          <a:prstGeom prst="rect">
            <a:avLst/>
          </a:prstGeom>
          <a:solidFill>
            <a:srgbClr val="11111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71907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812280" y="25603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SMB Penetration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12280" y="296265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Massive gap to fill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005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</a:rPr>
              <a:t>Industries: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343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Sales  Retail  Manufacturing  Healthcare  HR &amp; Payroll  Finance  Logistics  Real Estate  Agriculture  Banking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366F1"/>
                </a:solidFill>
              </a:rPr>
              <a:t>BUSINESS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SaaS. Per-module. Global pricing.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444752"/>
            <a:ext cx="269748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002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STARTER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94767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/month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</a:rPr>
              <a:t>+ 1 Industry module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30098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</a:rPr>
              <a:t>+ 10 analyses/month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6758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</a:rPr>
              <a:t>+ PDF reports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05079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</a:rPr>
              <a:t>+ Email support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18688" y="1444752"/>
            <a:ext cx="2697480" cy="3456432"/>
          </a:xfrm>
          <a:prstGeom prst="rect">
            <a:avLst/>
          </a:prstGeom>
          <a:solidFill>
            <a:srgbClr val="0A0A0A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1444752"/>
            <a:ext cx="2697480" cy="32918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144475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MOST POPULAR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01568" y="188366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A3AF"/>
                </a:solidFill>
              </a:rPr>
              <a:t>PROFESSIONAL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01568" y="223113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401568" y="28895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/month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01568" y="320954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+ 3 Industry modules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01568" y="358444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+ Unlimited analyses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01568" y="39593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+ Priority support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01568" y="433425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+ Custom branded reports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01568" y="470916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+ Advanced forecasting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71616" y="1444752"/>
            <a:ext cx="269748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54496" y="16002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ENTERPRISE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54496" y="194767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254496" y="2606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pricing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54496" y="29260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</a:rPr>
              <a:t>+ All 10+ modules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54496" y="330098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</a:rPr>
              <a:t>+ API access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54496" y="36758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</a:rPr>
              <a:t>+ White-label option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54496" y="405079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</a:rPr>
              <a:t>+ Dedicated support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54496" y="442569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</a:rPr>
              <a:t>+ SSO &amp; team management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Additional revenue: Pay-per-analysis  API licensing  White-label for enterprises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18CF8"/>
                </a:solidFill>
              </a:rPr>
              <a:t>COMPETITIVE ADVANTAGE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Velytics wins.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44752"/>
          <a:ext cx="8412480" cy="356616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2194560"/>
                <a:gridCol w="2011680"/>
              </a:tblGrid>
              <a:tr h="4457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Velytics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</a:rPr>
                        <a:t>Tableau / Power BI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</a:rPr>
                        <a:t>Hiring an Analyst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</a:rPr>
                        <a:t>Setup time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18CF8"/>
                          </a:solidFill>
                        </a:rPr>
                        <a:t>Under 60 seconds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</a:rPr>
                        <a:t>Days to weeks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</a:rPr>
                        <a:t>Months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</a:rPr>
                        <a:t>Tech skills needed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EE7B7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</a:rPr>
                        <a:t>Monthly cost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18CF8"/>
                          </a:solidFill>
                        </a:rPr>
                        <a:t>$29-$79/mo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</a:rPr>
                        <a:t>$70-$300+/mo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</a:rPr>
                        <a:t>$5K-$15K/mo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</a:rPr>
                        <a:t>Forecasting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EE7B7"/>
                          </a:solidFill>
                        </a:rPr>
                        <a:t>Automatic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</a:rPr>
                        <a:t>Manual build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</a:rPr>
                        <a:t>Manual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</a:rPr>
                        <a:t>PDF reports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EE7B7"/>
                          </a:solidFill>
                        </a:rPr>
                        <a:t>One click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</a:rPr>
                        <a:t>Complex export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</a:rPr>
                        <a:t>Manual work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</a:rPr>
                        <a:t>Data privacy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EE7B7"/>
                          </a:solidFill>
                        </a:rPr>
                        <a:t>Never stored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</a:rPr>
                        <a:t>Cloud stored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</a:rPr>
                        <a:t>Depends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</a:rPr>
                        <a:t>Built for SMBs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EE7B7"/>
                          </a:solidFill>
                        </a:rPr>
                        <a:t>Yes - by design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366F1"/>
                </a:solidFill>
              </a:rPr>
              <a:t>TRACTION &amp; WHAT'S BUILT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product. Live today.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444752"/>
            <a:ext cx="41605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727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What's already live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04825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9339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  Full Sales Intelligence module (10 sections)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31343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5856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  Auto data cleaning &amp; column detection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57860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2374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  Sales forecasting with ML model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84378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8892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  Price inconsistency detection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10896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540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  Salesperson &amp; regional performance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37413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1927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  Customer &amp; payment intelligence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63931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58444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  Smart business alerts engine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90448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4962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  One-click PDF report generation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16966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11480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  Live app on Streamlit Cloud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44348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37997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  Global landing page (velytics.io)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1444752"/>
            <a:ext cx="4069080" cy="3246120"/>
          </a:xfrm>
          <a:prstGeom prst="rect">
            <a:avLst/>
          </a:prstGeom>
          <a:solidFill>
            <a:srgbClr val="0A0A0A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5727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</a:rPr>
              <a:t>Roadmap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01168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18CF8"/>
                </a:solidFill>
              </a:rPr>
              <a:t>Q3 2026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61888" y="2011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Inventory Intelligence module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37760" y="235000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18CF8"/>
                </a:solidFill>
              </a:rPr>
              <a:t>Q3 2026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61888" y="23500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User login + Stripe payments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37760" y="268833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18CF8"/>
                </a:solidFill>
              </a:rPr>
              <a:t>Q4 2026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961888" y="26883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HR &amp; Payroll module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37760" y="302666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18CF8"/>
                </a:solidFill>
              </a:rPr>
              <a:t>Q4 2026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961888" y="30266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Finance &amp; Accounting module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37760" y="336499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18CF8"/>
                </a:solidFill>
              </a:rPr>
              <a:t>Q1 2027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961888" y="33649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Healthcare module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937760" y="37033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18CF8"/>
                </a:solidFill>
              </a:rPr>
              <a:t>Q1 2027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961888" y="3703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Manufacturing &amp; Ops module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937760" y="404164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18CF8"/>
                </a:solidFill>
              </a:rPr>
              <a:t>Q2 2027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961888" y="40416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API + white-label launch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937760" y="437997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18CF8"/>
                </a:solidFill>
              </a:rPr>
              <a:t>Q3 2027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961888" y="43799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Mobile app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Live: data-intelligence-platform-7p8vfpfosvduyt6ec93vpk.streamlit.app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18CF8"/>
                </a:solidFill>
              </a:rPr>
              <a:t>FINANCIAL PROJECTIONS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$1M ARR in 24 months.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41732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33872" y="1417320"/>
            <a:ext cx="2971800" cy="3200400"/>
          </a:xfrm>
          <a:prstGeom prst="rect">
            <a:avLst/>
          </a:prstGeom>
          <a:solidFill>
            <a:srgbClr val="11111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89320" y="15727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</a:rPr>
              <a:t>Key Assumptions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89320" y="20299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  Avg plan: $29/mo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239572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  Month 3: 120 customers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89320" y="276148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  Month 12: 1,100 customers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89320" y="31272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  Month 24: 2,900 customers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89320" y="349300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  Churn rate: 4%/month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89320" y="38587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  Zero paid marketing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89320" y="422452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  Pro upsell rate: 25%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4663440"/>
            <a:ext cx="2834640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4663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</a:rPr>
              <a:t>$379K  ARR at Month 12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364992" y="4663440"/>
            <a:ext cx="2834640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64992" y="4663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</a:rPr>
              <a:t>$1M+  ARR at Month 24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364224" y="4663440"/>
            <a:ext cx="2834640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64224" y="4663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</a:rPr>
              <a:t>$0  Current Burn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366F1"/>
                </a:solidFill>
              </a:rPr>
              <a:t>THE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world's most accessible analytics platform.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19072"/>
            <a:ext cx="3840480" cy="21488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562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Seed Round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24942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- $250K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2944368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Equity: Negotiable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Valuation: Product live + global traction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719072"/>
            <a:ext cx="4069080" cy="2148840"/>
          </a:xfrm>
          <a:prstGeom prst="rect">
            <a:avLst/>
          </a:prstGeom>
          <a:solidFill>
            <a:srgbClr val="0A0A0A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8562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3408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</a:rPr>
              <a:t>40%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23408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Build remaining 9 industry modules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7066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</a:rPr>
              <a:t>25%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270662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Cloud infrastructure &amp; global scaling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30723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</a:rPr>
              <a:t>20%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0" y="307238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Sales, marketing &amp; first customers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43814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</a:rPr>
              <a:t>15%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0" y="34381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Legal, compliance &amp; operations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</a:rPr>
              <a:t>What we bring: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315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Working product live  Zero burn rate  Sales network  Clear roadmap  Global market focus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8229600" cy="3200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Dhiraj Rawat  rawatdhiraj007@gmail.com  velytics.io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Velytics Investor Deck 2026</dc:title>
  <dc:subject>PptxGenJS Presentation</dc:subject>
  <dc:creator>PptxGenJS</dc:creator>
  <cp:lastModifiedBy>PptxGenJS</cp:lastModifiedBy>
  <cp:revision>1</cp:revision>
  <dcterms:created xsi:type="dcterms:W3CDTF">2026-06-03T03:59:11Z</dcterms:created>
  <dcterms:modified xsi:type="dcterms:W3CDTF">2026-06-03T03:59:11Z</dcterms:modified>
</cp:coreProperties>
</file>